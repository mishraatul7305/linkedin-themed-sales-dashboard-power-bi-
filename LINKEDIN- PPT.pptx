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F5F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Office Supplies</c:v>
                  </c:pt>
                  <c:pt idx="1">
                    <c:v>Furniture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3500</c:v>
                </c:pt>
                <c:pt idx="1">
                  <c:v>1200</c:v>
                </c:pt>
                <c:pt idx="2">
                  <c:v>1100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</c:scaling>
        <c:delete val="0"/>
        <c:axPos val="l"/>
        <c:majorGridlines>
          <c:spPr>
            <a:ln w="6350" cap="flat">
              <a:solidFill>
                <a:srgbClr val="DDE5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Year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2222"/>
              </a:solidFill>
              <a:effectLst/>
            </c:spPr>
          </c:dPt>
          <c:dPt>
            <c:idx val="1"/>
            <c:bubble3D val="0"/>
            <c:spPr>
              <a:solidFill>
                <a:srgbClr val="8FE3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2019</c:v>
                </c:pt>
                <c:pt idx="1">
                  <c:v>2020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2590</c:v>
                </c:pt>
                <c:pt idx="1">
                  <c:v>3310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E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report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Atul Mishra</a:t>
            </a:r>
            <a:endParaRPr lang="en-US" sz="1600" dirty="0"/>
          </a:p>
        </p:txBody>
      </p:sp>
      <p:pic>
        <p:nvPicPr>
          <p:cNvPr id="6" name="Image 0" descr="/mnt/user-data/uploads/Screenshot_2026-10-13_0304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463040"/>
            <a:ext cx="3566160" cy="2008527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274320" cy="27432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22K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Mail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371600"/>
            <a:ext cx="274320" cy="274320"/>
          </a:xfrm>
          <a:prstGeom prst="ellipse">
            <a:avLst/>
          </a:prstGeom>
          <a:solidFill>
            <a:srgbClr val="8FE35A"/>
          </a:solidFill>
          <a:ln w="12700">
            <a:solidFill>
              <a:srgbClr val="8FE3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175.26K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371600"/>
            <a:ext cx="274320" cy="274320"/>
          </a:xfrm>
          <a:prstGeom prst="ellipse">
            <a:avLst/>
          </a:prstGeom>
          <a:solidFill>
            <a:srgbClr val="2F5FB3"/>
          </a:solidFill>
          <a:ln w="12700">
            <a:solidFill>
              <a:srgbClr val="2F5F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30M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Target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632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 with interactive slicers, navigation buttons and a "Clear all slicers" reset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sales by category and state, yearly comparison, profit vs. returns and payment modes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 one page answers the main business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at a Glance</a:t>
            </a:r>
            <a:endParaRPr lang="en-US" sz="3000" dirty="0"/>
          </a:p>
        </p:txBody>
      </p:sp>
      <p:pic>
        <p:nvPicPr>
          <p:cNvPr id="3" name="Image 0" descr="/mnt/user-data/uploads/Screenshot_2026-10-13_0304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51560"/>
            <a:ext cx="6656459" cy="37490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Category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read from the dashboard (approx.)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0" y="118872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Supplies leads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18288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sells roughly three times as much as Furniture or Technology, which are close to each other. Growth levers: lift Furniture and Technology volumes.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 vs. 2020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120640" y="11887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49240" y="1325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2.59K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1325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20640" y="242316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2560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3.31K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3749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contributes 56.1% of the total and is about 28% higher than 2019.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State and Sub-Category</a:t>
            </a:r>
            <a:endParaRPr lang="en-US" sz="3000" dirty="0"/>
          </a:p>
        </p:txBody>
      </p:sp>
      <p:pic>
        <p:nvPicPr>
          <p:cNvPr id="3" name="Image 0" descr="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480560" cy="362504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212080" y="11887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shows the leading sub-category in every US state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legend (Accessories, Appliances, Art, Binders, Chairs and more)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states such as Montana, Utah and Nebraska stand out from the rest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let the viewer drill down by order, date or customer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and Returns by Quantity</a:t>
            </a:r>
            <a:endParaRPr lang="en-US" sz="3000" dirty="0"/>
          </a:p>
        </p:txBody>
      </p:sp>
      <p:pic>
        <p:nvPicPr>
          <p:cNvPr id="3" name="Image 0" descr="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66330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457200" y="3840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peaks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33K, 29K and 31K at quantities 3 to 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46120" y="3840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2900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low across all quantities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35040" y="3840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orders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little profit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Mode Mix</a:t>
            </a:r>
            <a:endParaRPr lang="en-US" sz="3000" dirty="0"/>
          </a:p>
        </p:txBody>
      </p:sp>
      <p:pic>
        <p:nvPicPr>
          <p:cNvPr id="3" name="Image 0" descr="p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139696" cy="33328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3017520" y="118872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 tracked: COD, Online and Cards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is the largest share; Online is a close second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are the smallest, at 52.3% of the COD level in the funnel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nudge COD customers to online payment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383280"/>
          </a:xfrm>
          <a:prstGeom prst="roundRect">
            <a:avLst>
              <a:gd name="adj" fmla="val 324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324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drives most sales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outperformed 2019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orders give the best profit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still dominates payments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371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Furniture and Technology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returns at quantity 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online and card payments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report to GitHub and LinkedIn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E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Mishra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linkedin.com/in/atul-mishra210202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subject>PptxGenJS Presentation</dc:subject>
  <dc:creator>Atul Mishra</dc:creator>
  <cp:lastModifiedBy>Atul Mishra</cp:lastModifiedBy>
  <cp:revision>1</cp:revision>
  <dcterms:created xsi:type="dcterms:W3CDTF">2026-10-12T21:39:44Z</dcterms:created>
  <dcterms:modified xsi:type="dcterms:W3CDTF">2026-10-12T21:39:44Z</dcterms:modified>
</cp:coreProperties>
</file>